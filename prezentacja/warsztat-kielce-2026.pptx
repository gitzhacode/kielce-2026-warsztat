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20104100" cy="11309350"/>
  <p:notesSz cx="11309350" cy="201041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Segoe UI" panose="020B0502040204020203" pitchFamily="34" charset="0"/>
      <p:regular r:id="rId23"/>
      <p:bold r:id="rId24"/>
      <p:italic r:id="rId25"/>
      <p:boldItalic r:id="rId26"/>
    </p:embeddedFont>
    <p:embeddedFont>
      <p:font typeface="Segoe UI Light" panose="020B0502040204020203" pitchFamily="34" charset="0"/>
      <p:regular r:id="rId27"/>
      <p:italic r:id="rId28"/>
    </p:embeddedFont>
    <p:embeddedFont>
      <p:font typeface="Segoe UI Semibold" panose="020B0702040204020203" pitchFamily="34" charset="0"/>
      <p:bold r:id="rId29"/>
      <p:boldItalic r:id="rId30"/>
    </p:embeddedFont>
    <p:embeddedFont>
      <p:font typeface="ZHA Sans" panose="02000603040000020004" pitchFamily="2" charset="0"/>
      <p:regular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7922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leksander.mastalski\repositories\_docs-export\zha-kielce-warsztat-deck\assets\cover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0103998" cy="113092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1199" y="9097366"/>
            <a:ext cx="12801600" cy="114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Praktyczne wykorzystanie AI w pracowni architektonicznej</a:t>
            </a:r>
            <a:endParaRPr lang="en-US" sz="4000" dirty="0"/>
          </a:p>
          <a:p>
            <a:pPr marL="0" indent="0" algn="ctr">
              <a:lnSpc>
                <a:spcPct val="115000"/>
              </a:lnSpc>
              <a:spcBef>
                <a:spcPts val="800"/>
              </a:spcBef>
              <a:buNone/>
            </a:pPr>
            <a:r>
              <a:rPr lang="en-US" sz="2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Warsztat · Aleksander Mastalski · ZHA · Kielce, 26 września 2026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02920"/>
            <a:ext cx="164463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WARSZTAT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1463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64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Agent AI napisze dziś dla Was sprawdzacz zgodności z planem miejscowym.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7132320"/>
            <a:ext cx="1463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D4D4D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Prawdziwy plan z Kielc, teren U,M 2. Każdy wychodzi z własnym skryptem, wynikiem i promptem, który go stworzył.</a:t>
            </a:r>
            <a:endParaRPr lang="en-US" sz="3200" dirty="0"/>
          </a:p>
        </p:txBody>
      </p:sp>
      <p:pic>
        <p:nvPicPr>
          <p:cNvPr id="5" name="Image 0" descr="C:\Users\aleksander.mastalski\repositories\_docs-export\zha-kielce-warsztat-deck\assets\grad-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698480"/>
            <a:ext cx="16446398" cy="36576"/>
          </a:xfrm>
          <a:prstGeom prst="rect">
            <a:avLst/>
          </a:prstGeom>
        </p:spPr>
      </p:pic>
      <p:pic>
        <p:nvPicPr>
          <p:cNvPr id="6" name="Image 1" descr="C:\Users\aleksander.mastalski\repositories\_docs-export\zha-kielce-warsztat-deck\assets\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6558" y="10442448"/>
            <a:ext cx="1463040" cy="5686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02920"/>
            <a:ext cx="164463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NARZĘDZIA AGENTOWE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868680"/>
            <a:ext cx="1644639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7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Copilot na sali, mocniejsze w biurze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914400" y="3291840"/>
            <a:ext cx="3837280" cy="566928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3840480"/>
            <a:ext cx="640080" cy="54864"/>
          </a:xfrm>
          <a:prstGeom prst="rect">
            <a:avLst/>
          </a:prstGeom>
          <a:solidFill>
            <a:srgbClr val="999999"/>
          </a:solidFill>
          <a:ln/>
        </p:spPr>
      </p:sp>
      <p:pic>
        <p:nvPicPr>
          <p:cNvPr id="6" name="Image 0" descr="C:\Users\aleksander.mastalski\repositories\_docs-export\zha-kielce-warsztat-deck\assets\marks\copil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80160" y="425196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5349240"/>
            <a:ext cx="310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9999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 Copilot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280160" y="6492240"/>
            <a:ext cx="3105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Dziś na sali. Darmowy, w VS Code, około 50 zapytań miesięcznie. Przy dłuższych zadaniach gubi wątek.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117440" y="3291840"/>
            <a:ext cx="3837280" cy="566928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3200" y="3840480"/>
            <a:ext cx="640080" cy="54864"/>
          </a:xfrm>
          <a:prstGeom prst="rect">
            <a:avLst/>
          </a:prstGeom>
          <a:solidFill>
            <a:srgbClr val="3FB9C7"/>
          </a:solidFill>
          <a:ln/>
        </p:spPr>
      </p:sp>
      <p:pic>
        <p:nvPicPr>
          <p:cNvPr id="11" name="Image 1" descr="C:\Users\aleksander.mastalski\repositories\_docs-export\zha-kielce-warsztat-deck\assets\marks\codex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3200" y="4251960"/>
            <a:ext cx="822960" cy="8229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3200" y="5349240"/>
            <a:ext cx="310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3FB9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OpenAI Codex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5483200" y="6492240"/>
            <a:ext cx="3105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w terminalu i w edytorze. Płatny, w planach ChatGPT. Utrzymuje zadanie na wielu plikach.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9320479" y="3291840"/>
            <a:ext cx="3837280" cy="566928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86239" y="3840480"/>
            <a:ext cx="640080" cy="54864"/>
          </a:xfrm>
          <a:prstGeom prst="rect">
            <a:avLst/>
          </a:prstGeom>
          <a:solidFill>
            <a:srgbClr val="F07A5F"/>
          </a:solidFill>
          <a:ln/>
        </p:spPr>
      </p:sp>
      <p:pic>
        <p:nvPicPr>
          <p:cNvPr id="16" name="Image 2" descr="C:\Users\aleksander.mastalski\repositories\_docs-export\zha-kielce-warsztat-deck\assets\marks\claud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86239" y="4251960"/>
            <a:ext cx="822960" cy="8229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86239" y="5349240"/>
            <a:ext cx="310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Claude Code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9686239" y="6492240"/>
            <a:ext cx="3105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w terminalu i w VS Code. Płatny. Tym narzędziem powstało to repozytorium i karta 08.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13523519" y="3291840"/>
            <a:ext cx="3837280" cy="566928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3889279" y="3840480"/>
            <a:ext cx="640080" cy="54864"/>
          </a:xfrm>
          <a:prstGeom prst="rect">
            <a:avLst/>
          </a:prstGeom>
          <a:solidFill>
            <a:srgbClr val="5AA3F0"/>
          </a:solidFill>
          <a:ln/>
        </p:spPr>
      </p:sp>
      <p:pic>
        <p:nvPicPr>
          <p:cNvPr id="21" name="Image 3" descr="C:\Users\aleksander.mastalski\repositories\_docs-export\zha-kielce-warsztat-deck\assets\marks\antigravity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889279" y="4251960"/>
            <a:ext cx="822960" cy="8229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89279" y="5349240"/>
            <a:ext cx="310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5AA3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Google Antigravity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13889279" y="6492240"/>
            <a:ext cx="3105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Edytor zbudowany wokół agenta, na modelach Gemini. Agent sam prowadzi przeglądarkę.</a:t>
            </a:r>
            <a:endParaRPr lang="en-US" sz="2200" dirty="0"/>
          </a:p>
        </p:txBody>
      </p:sp>
      <p:pic>
        <p:nvPicPr>
          <p:cNvPr id="24" name="Image 4" descr="C:\Users\aleksander.mastalski\repositories\_docs-export\zha-kielce-warsztat-deck\assets\grad-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10698480"/>
            <a:ext cx="16446398" cy="36576"/>
          </a:xfrm>
          <a:prstGeom prst="rect">
            <a:avLst/>
          </a:prstGeom>
        </p:spPr>
      </p:pic>
      <p:pic>
        <p:nvPicPr>
          <p:cNvPr id="25" name="Image 5" descr="C:\Users\aleksander.mastalski\repositories\_docs-export\zha-kielce-warsztat-deck\assets\logo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26558" y="10442448"/>
            <a:ext cx="1463040" cy="5686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502920"/>
            <a:ext cx="164463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JAK TO DZIAŁA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868680"/>
            <a:ext cx="1644639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7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Od tekstu uchwały do werdyktu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914400" y="5486400"/>
            <a:ext cx="3540100" cy="237744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5806440"/>
            <a:ext cx="290002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Uchwała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6334760"/>
            <a:ext cx="2900020" cy="120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 strony tekstu planu, w nich teren U,M 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64228" y="6675120"/>
            <a:ext cx="1152144" cy="0"/>
          </a:xfrm>
          <a:prstGeom prst="line">
            <a:avLst/>
          </a:prstGeom>
          <a:noFill/>
          <a:ln w="25400">
            <a:solidFill>
              <a:srgbClr val="3FB9C7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4427068" y="612648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FB9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 czyta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826100" y="5486400"/>
            <a:ext cx="3540100" cy="237744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46140" y="5806440"/>
            <a:ext cx="29000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0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plan.json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146140" y="6278880"/>
            <a:ext cx="290002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limity terenu zapisane liczbami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475927" y="6675120"/>
            <a:ext cx="1152144" cy="0"/>
          </a:xfrm>
          <a:prstGeom prst="line">
            <a:avLst/>
          </a:prstGeom>
          <a:noFill/>
          <a:ln w="25400">
            <a:solidFill>
              <a:srgbClr val="3FB9C7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9338767" y="612648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FB9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 pisze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0737799" y="5486400"/>
            <a:ext cx="3540100" cy="237744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057839" y="5806440"/>
            <a:ext cx="290002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0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sprawdz_mpzp.py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1057839" y="6278880"/>
            <a:ext cx="290002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Python, bez dodatkowych bibliotek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4387627" y="6675120"/>
            <a:ext cx="1152144" cy="0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14250467" y="612648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4D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uruchamiasz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5649499" y="5486400"/>
            <a:ext cx="3540100" cy="237744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5969539" y="5806440"/>
            <a:ext cx="290002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Tabela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15969539" y="6334760"/>
            <a:ext cx="2900020" cy="120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sześć wskaźników, każdy OK albo NIE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737799" y="3246120"/>
            <a:ext cx="3540100" cy="141732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057839" y="3566160"/>
            <a:ext cx="2900020" cy="30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inwestycja.json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1057839" y="4010660"/>
            <a:ext cx="290002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fikcyjny budynek Solna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507849" y="4754880"/>
            <a:ext cx="0" cy="64008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914400" y="8686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4D4D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Ta sama logika dalej: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6217920" y="8686800"/>
            <a:ext cx="4080053" cy="73152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5875">
            <a:solidFill>
              <a:srgbClr val="F07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8686800"/>
            <a:ext cx="408005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kalkulator HTML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0663733" y="8686800"/>
            <a:ext cx="4080053" cy="73152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5875">
            <a:solidFill>
              <a:srgbClr val="F07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663733" y="8686800"/>
            <a:ext cx="408005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komponent Grasshoppera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15109546" y="8686800"/>
            <a:ext cx="4080053" cy="73152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5875">
            <a:solidFill>
              <a:srgbClr val="F07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5109546" y="8686800"/>
            <a:ext cx="408005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3D w przeglądarce</a:t>
            </a:r>
            <a:endParaRPr lang="en-US" sz="2200" dirty="0"/>
          </a:p>
        </p:txBody>
      </p:sp>
      <p:pic>
        <p:nvPicPr>
          <p:cNvPr id="33" name="Image 0" descr="C:\Users\aleksander.mastalski\repositories\_docs-export\zha-kielce-warsztat-deck\assets\grad-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698480"/>
            <a:ext cx="16446398" cy="36576"/>
          </a:xfrm>
          <a:prstGeom prst="rect">
            <a:avLst/>
          </a:prstGeom>
        </p:spPr>
      </p:pic>
      <p:pic>
        <p:nvPicPr>
          <p:cNvPr id="34" name="Image 1" descr="C:\Users\aleksander.mastalski\repositories\_docs-export\zha-kielce-warsztat-deck\assets\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6558" y="10442448"/>
            <a:ext cx="1463040" cy="5686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2801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DANE ĆWICZENIA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28800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7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Budynek fikcyjny, plan prawdziwy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914400" y="4663440"/>
            <a:ext cx="2926080" cy="54864"/>
          </a:xfrm>
          <a:prstGeom prst="rect">
            <a:avLst/>
          </a:prstGeom>
          <a:solidFill>
            <a:srgbClr val="F07A5F"/>
          </a:solidFill>
          <a:ln w="12700">
            <a:solidFill>
              <a:srgbClr val="F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507492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D4D4D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Solna: działka 1850 m², sześć kondygnacji, garaż i 30 mieszkań. Limity pochodzą z prawdziwej uchwały.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88696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9999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wynik  </a:t>
            </a:r>
            <a:r>
              <a:rPr lang="en-US" sz="2200" dirty="0">
                <a:solidFill>
                  <a:srgbClr val="F0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dane/inwestycja.json</a:t>
            </a:r>
            <a:endParaRPr lang="en-US" sz="2200" dirty="0"/>
          </a:p>
        </p:txBody>
      </p:sp>
      <p:pic>
        <p:nvPicPr>
          <p:cNvPr id="7" name="Image 0" descr="C:\Users\aleksander.mastalski\repositories\_docs-export\zha-kielce-warsztat-deck\assets\shots\rhino-00-ma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958130"/>
            <a:ext cx="11325758" cy="637073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863840" y="8466030"/>
            <a:ext cx="113257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Rhino 8  </a:t>
            </a:r>
            <a:r>
              <a:rPr lang="en-US" sz="18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masa Solna, obrysy kondygnacji na warstwach</a:t>
            </a:r>
            <a:endParaRPr lang="en-US" sz="1800" dirty="0"/>
          </a:p>
        </p:txBody>
      </p:sp>
      <p:pic>
        <p:nvPicPr>
          <p:cNvPr id="9" name="Image 1" descr="C:\Users\aleksander.mastalski\repositories\_docs-export\zha-kielce-warsztat-deck\assets\grad-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0698480"/>
            <a:ext cx="6035040" cy="36576"/>
          </a:xfrm>
          <a:prstGeom prst="rect">
            <a:avLst/>
          </a:prstGeom>
        </p:spPr>
      </p:pic>
      <p:pic>
        <p:nvPicPr>
          <p:cNvPr id="10" name="Image 2" descr="C:\Users\aleksander.mastalski\repositories\_docs-export\zha-kielce-warsztat-deck\assets\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26558" y="10442448"/>
            <a:ext cx="1463040" cy="5686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02920"/>
            <a:ext cx="164463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PRZEBIEG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868680"/>
            <a:ext cx="1644639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7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90 minut, dwie rundy pracy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914400" y="6217920"/>
            <a:ext cx="16446398" cy="18288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5" name="Image 0" descr="C:\Users\aleksander.mastalski\repositories\_docs-export\zha-kielce-warsztat-deck\assets\shots\edytor-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798643"/>
            <a:ext cx="1872920" cy="105351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14868" y="6071616"/>
            <a:ext cx="54864" cy="310896"/>
          </a:xfrm>
          <a:prstGeom prst="rect">
            <a:avLst/>
          </a:prstGeom>
          <a:solidFill>
            <a:srgbClr val="F07A5F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6473952"/>
            <a:ext cx="187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11:45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005840" y="7040880"/>
            <a:ext cx="1872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Wprowadzenie i pokaz na żywo</a:t>
            </a:r>
            <a:endParaRPr lang="en-US" sz="2000" dirty="0"/>
          </a:p>
        </p:txBody>
      </p:sp>
      <p:pic>
        <p:nvPicPr>
          <p:cNvPr id="9" name="Image 1" descr="C:\Users\aleksander.mastalski\repositories\_docs-export\zha-kielce-warsztat-deck\assets\shots\term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1640" y="5113077"/>
            <a:ext cx="1872920" cy="73908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970668" y="6071616"/>
            <a:ext cx="54864" cy="310896"/>
          </a:xfrm>
          <a:prstGeom prst="rect">
            <a:avLst/>
          </a:prstGeom>
          <a:solidFill>
            <a:srgbClr val="F07A5F"/>
          </a:solidFill>
          <a:ln/>
        </p:spPr>
      </p:sp>
      <p:sp>
        <p:nvSpPr>
          <p:cNvPr id="11" name="Text 7"/>
          <p:cNvSpPr/>
          <p:nvPr/>
        </p:nvSpPr>
        <p:spPr>
          <a:xfrm>
            <a:off x="3061640" y="6473952"/>
            <a:ext cx="187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12:00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3061640" y="7040880"/>
            <a:ext cx="1872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Razem: karty 00 i 01</a:t>
            </a:r>
            <a:endParaRPr lang="en-US" sz="2000" dirty="0"/>
          </a:p>
        </p:txBody>
      </p:sp>
      <p:pic>
        <p:nvPicPr>
          <p:cNvPr id="13" name="Image 2" descr="C:\Users\aleksander.mastalski\repositories\_docs-export\zha-kielce-warsztat-deck\assets\shots\kalk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7440" y="4681585"/>
            <a:ext cx="1872920" cy="117057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026468" y="6071616"/>
            <a:ext cx="54864" cy="310896"/>
          </a:xfrm>
          <a:prstGeom prst="rect">
            <a:avLst/>
          </a:prstGeom>
          <a:solidFill>
            <a:srgbClr val="F07A5F"/>
          </a:solidFill>
          <a:ln/>
        </p:spPr>
      </p:sp>
      <p:sp>
        <p:nvSpPr>
          <p:cNvPr id="15" name="Text 10"/>
          <p:cNvSpPr/>
          <p:nvPr/>
        </p:nvSpPr>
        <p:spPr>
          <a:xfrm>
            <a:off x="5117440" y="6473952"/>
            <a:ext cx="187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12:10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5117440" y="7040880"/>
            <a:ext cx="1872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Samodzielnie, runda 1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8082267" y="6071616"/>
            <a:ext cx="54864" cy="310896"/>
          </a:xfrm>
          <a:prstGeom prst="rect">
            <a:avLst/>
          </a:prstGeom>
          <a:solidFill>
            <a:srgbClr val="F07A5F"/>
          </a:solidFill>
          <a:ln/>
        </p:spPr>
      </p:sp>
      <p:sp>
        <p:nvSpPr>
          <p:cNvPr id="18" name="Text 13"/>
          <p:cNvSpPr/>
          <p:nvPr/>
        </p:nvSpPr>
        <p:spPr>
          <a:xfrm>
            <a:off x="7173239" y="6473952"/>
            <a:ext cx="187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12:28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7173239" y="7040880"/>
            <a:ext cx="1872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Omówienie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10138067" y="6071616"/>
            <a:ext cx="54864" cy="310896"/>
          </a:xfrm>
          <a:prstGeom prst="rect">
            <a:avLst/>
          </a:prstGeom>
          <a:solidFill>
            <a:srgbClr val="F07A5F"/>
          </a:solidFill>
          <a:ln/>
        </p:spPr>
      </p:sp>
      <p:sp>
        <p:nvSpPr>
          <p:cNvPr id="21" name="Text 16"/>
          <p:cNvSpPr/>
          <p:nvPr/>
        </p:nvSpPr>
        <p:spPr>
          <a:xfrm>
            <a:off x="9229039" y="6473952"/>
            <a:ext cx="187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12:32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9229039" y="7040880"/>
            <a:ext cx="1872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Przerwa</a:t>
            </a:r>
            <a:endParaRPr lang="en-US" sz="2000" dirty="0"/>
          </a:p>
        </p:txBody>
      </p:sp>
      <p:pic>
        <p:nvPicPr>
          <p:cNvPr id="23" name="Image 3" descr="C:\Users\aleksander.mastalski\repositories\_docs-export\zha-kielce-warsztat-deck\assets\shots\rhino-05-kontro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84839" y="4798643"/>
            <a:ext cx="1872920" cy="1053517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2193867" y="6071616"/>
            <a:ext cx="54864" cy="310896"/>
          </a:xfrm>
          <a:prstGeom prst="rect">
            <a:avLst/>
          </a:prstGeom>
          <a:solidFill>
            <a:srgbClr val="F07A5F"/>
          </a:solidFill>
          <a:ln/>
        </p:spPr>
      </p:sp>
      <p:sp>
        <p:nvSpPr>
          <p:cNvPr id="25" name="Text 19"/>
          <p:cNvSpPr/>
          <p:nvPr/>
        </p:nvSpPr>
        <p:spPr>
          <a:xfrm>
            <a:off x="11284839" y="6473952"/>
            <a:ext cx="187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12:37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11284839" y="7040880"/>
            <a:ext cx="1872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Pokaz na modelu</a:t>
            </a:r>
            <a:endParaRPr lang="en-US" sz="2000" dirty="0"/>
          </a:p>
        </p:txBody>
      </p:sp>
      <p:pic>
        <p:nvPicPr>
          <p:cNvPr id="27" name="Image 4" descr="C:\Users\aleksander.mastalski\repositories\_docs-export\zha-kielce-warsztat-deck\assets\shots\rhino-07-elewacj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40639" y="4798643"/>
            <a:ext cx="1872920" cy="1053517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14249667" y="6071616"/>
            <a:ext cx="54864" cy="310896"/>
          </a:xfrm>
          <a:prstGeom prst="rect">
            <a:avLst/>
          </a:prstGeom>
          <a:solidFill>
            <a:srgbClr val="F07A5F"/>
          </a:solidFill>
          <a:ln/>
        </p:spPr>
      </p:sp>
      <p:sp>
        <p:nvSpPr>
          <p:cNvPr id="29" name="Text 22"/>
          <p:cNvSpPr/>
          <p:nvPr/>
        </p:nvSpPr>
        <p:spPr>
          <a:xfrm>
            <a:off x="13340639" y="6473952"/>
            <a:ext cx="187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12:43</a:t>
            </a:r>
            <a:endParaRPr lang="en-US" sz="2800" dirty="0"/>
          </a:p>
        </p:txBody>
      </p:sp>
      <p:sp>
        <p:nvSpPr>
          <p:cNvPr id="30" name="Text 23"/>
          <p:cNvSpPr/>
          <p:nvPr/>
        </p:nvSpPr>
        <p:spPr>
          <a:xfrm>
            <a:off x="13340639" y="7040880"/>
            <a:ext cx="1872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Samodzielnie, runda 2</a:t>
            </a:r>
            <a:endParaRPr lang="en-US" sz="2000" dirty="0"/>
          </a:p>
        </p:txBody>
      </p:sp>
      <p:sp>
        <p:nvSpPr>
          <p:cNvPr id="31" name="Shape 24"/>
          <p:cNvSpPr/>
          <p:nvPr/>
        </p:nvSpPr>
        <p:spPr>
          <a:xfrm>
            <a:off x="16305467" y="6071616"/>
            <a:ext cx="54864" cy="310896"/>
          </a:xfrm>
          <a:prstGeom prst="rect">
            <a:avLst/>
          </a:prstGeom>
          <a:solidFill>
            <a:srgbClr val="F07A5F"/>
          </a:solidFill>
          <a:ln/>
        </p:spPr>
      </p:sp>
      <p:sp>
        <p:nvSpPr>
          <p:cNvPr id="32" name="Text 25"/>
          <p:cNvSpPr/>
          <p:nvPr/>
        </p:nvSpPr>
        <p:spPr>
          <a:xfrm>
            <a:off x="15396439" y="6473952"/>
            <a:ext cx="187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13:01</a:t>
            </a:r>
            <a:endParaRPr lang="en-US" sz="2800" dirty="0"/>
          </a:p>
        </p:txBody>
      </p:sp>
      <p:sp>
        <p:nvSpPr>
          <p:cNvPr id="33" name="Text 26"/>
          <p:cNvSpPr/>
          <p:nvPr/>
        </p:nvSpPr>
        <p:spPr>
          <a:xfrm>
            <a:off x="15396439" y="7040880"/>
            <a:ext cx="1872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Omówienie i co dalej</a:t>
            </a:r>
            <a:endParaRPr lang="en-US" sz="2000" dirty="0"/>
          </a:p>
        </p:txBody>
      </p:sp>
      <p:pic>
        <p:nvPicPr>
          <p:cNvPr id="34" name="Image 5" descr="C:\Users\aleksander.mastalski\repositories\_docs-export\zha-kielce-warsztat-deck\assets\grad-b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10698480"/>
            <a:ext cx="16446398" cy="36576"/>
          </a:xfrm>
          <a:prstGeom prst="rect">
            <a:avLst/>
          </a:prstGeom>
        </p:spPr>
      </p:pic>
      <p:pic>
        <p:nvPicPr>
          <p:cNvPr id="35" name="Image 6" descr="C:\Users\aleksander.mastalski\repositories\_docs-export\zha-kielce-warsztat-deck\assets\logo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26558" y="10442448"/>
            <a:ext cx="1463040" cy="5686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502920"/>
            <a:ext cx="164463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KARTY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868680"/>
            <a:ext cx="1644639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7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Dziewięć kart, trzy ścieżki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5146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Wspólne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0" y="2514600"/>
            <a:ext cx="3291840" cy="105156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9999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46320" y="25146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7A5F"/>
                </a:solidFill>
                <a:latin typeface="ZHA Sans" pitchFamily="34" charset="0"/>
                <a:ea typeface="ZHA Sans" pitchFamily="34" charset="-122"/>
                <a:cs typeface="ZHA Sans" pitchFamily="34" charset="-120"/>
              </a:rPr>
              <a:t>00  </a:t>
            </a: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Wczytaj plan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955280" y="3040380"/>
            <a:ext cx="45720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503920" y="2514600"/>
            <a:ext cx="3291840" cy="105156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9999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25146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7A5F"/>
                </a:solidFill>
                <a:latin typeface="ZHA Sans" pitchFamily="34" charset="0"/>
                <a:ea typeface="ZHA Sans" pitchFamily="34" charset="-122"/>
                <a:cs typeface="ZHA Sans" pitchFamily="34" charset="-120"/>
              </a:rPr>
              <a:t>01  </a:t>
            </a: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Sprawdź plan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550640" y="2514600"/>
            <a:ext cx="26389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99999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wszyscy razem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9776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Bez Rhino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0" y="3977640"/>
            <a:ext cx="3291840" cy="105156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9776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7A5F"/>
                </a:solidFill>
                <a:latin typeface="ZHA Sans" pitchFamily="34" charset="0"/>
                <a:ea typeface="ZHA Sans" pitchFamily="34" charset="-122"/>
                <a:cs typeface="ZHA Sans" pitchFamily="34" charset="-120"/>
              </a:rPr>
              <a:t>02  </a:t>
            </a: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Wysokość schodkowa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503920" y="3977640"/>
            <a:ext cx="3291840" cy="105156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78240" y="39776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7A5F"/>
                </a:solidFill>
                <a:latin typeface="ZHA Sans" pitchFamily="34" charset="0"/>
                <a:ea typeface="ZHA Sans" pitchFamily="34" charset="-122"/>
                <a:cs typeface="ZHA Sans" pitchFamily="34" charset="-120"/>
              </a:rPr>
              <a:t>03  </a:t>
            </a: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Ile mogę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2435840" y="3977640"/>
            <a:ext cx="3291840" cy="105156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710160" y="39776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7A5F"/>
                </a:solidFill>
                <a:latin typeface="ZHA Sans" pitchFamily="34" charset="0"/>
                <a:ea typeface="ZHA Sans" pitchFamily="34" charset="-122"/>
                <a:cs typeface="ZHA Sans" pitchFamily="34" charset="-120"/>
              </a:rPr>
              <a:t>04  </a:t>
            </a: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Kalkulator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6550640" y="3977640"/>
            <a:ext cx="26389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99999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Python i przeglądarka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44068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 Rhino 8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572000" y="5440680"/>
            <a:ext cx="3291840" cy="105156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54406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7A5F"/>
                </a:solidFill>
                <a:latin typeface="ZHA Sans" pitchFamily="34" charset="0"/>
                <a:ea typeface="ZHA Sans" pitchFamily="34" charset="-122"/>
                <a:cs typeface="ZHA Sans" pitchFamily="34" charset="-120"/>
              </a:rPr>
              <a:t>05  </a:t>
            </a: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 modelu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955280" y="5966460"/>
            <a:ext cx="45720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03920" y="5440680"/>
            <a:ext cx="3291840" cy="105156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78240" y="54406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7A5F"/>
                </a:solidFill>
                <a:latin typeface="ZHA Sans" pitchFamily="34" charset="0"/>
                <a:ea typeface="ZHA Sans" pitchFamily="34" charset="-122"/>
                <a:cs typeface="ZHA Sans" pitchFamily="34" charset="-120"/>
              </a:rPr>
              <a:t>06  </a:t>
            </a: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Bryła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1887200" y="5966460"/>
            <a:ext cx="457200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2435840" y="5440680"/>
            <a:ext cx="3291840" cy="105156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2710160" y="54406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7A5F"/>
                </a:solidFill>
                <a:latin typeface="ZHA Sans" pitchFamily="34" charset="0"/>
                <a:ea typeface="ZHA Sans" pitchFamily="34" charset="-122"/>
                <a:cs typeface="ZHA Sans" pitchFamily="34" charset="-120"/>
              </a:rPr>
              <a:t>07  </a:t>
            </a: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Elewacja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16550640" y="5440680"/>
            <a:ext cx="26389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99999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Grasshopper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69037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Własny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4572000" y="6903720"/>
            <a:ext cx="3291840" cy="105156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99999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46320" y="69037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7A5F"/>
                </a:solidFill>
                <a:latin typeface="ZHA Sans" pitchFamily="34" charset="0"/>
                <a:ea typeface="ZHA Sans" pitchFamily="34" charset="-122"/>
                <a:cs typeface="ZHA Sans" pitchFamily="34" charset="-120"/>
              </a:rPr>
              <a:t>99  </a:t>
            </a: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Twój problem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16550640" y="6903720"/>
            <a:ext cx="26389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99999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Twoja reguła, Twój prompt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836676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 warsztacie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4572000" y="8366760"/>
            <a:ext cx="3291840" cy="105156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333333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4846320" y="83667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7A5F"/>
                </a:solidFill>
                <a:latin typeface="ZHA Sans" pitchFamily="34" charset="0"/>
                <a:ea typeface="ZHA Sans" pitchFamily="34" charset="-122"/>
                <a:cs typeface="ZHA Sans" pitchFamily="34" charset="-120"/>
              </a:rPr>
              <a:t>08  </a:t>
            </a: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Pokaz w przeglądarce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16550640" y="8366760"/>
            <a:ext cx="26389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99999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zespół agentów</a:t>
            </a:r>
            <a:endParaRPr lang="en-US" sz="2200" dirty="0"/>
          </a:p>
        </p:txBody>
      </p:sp>
      <p:pic>
        <p:nvPicPr>
          <p:cNvPr id="37" name="Image 0" descr="C:\Users\aleksander.mastalski\repositories\_docs-export\zha-kielce-warsztat-deck\assets\grad-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698480"/>
            <a:ext cx="16446398" cy="36576"/>
          </a:xfrm>
          <a:prstGeom prst="rect">
            <a:avLst/>
          </a:prstGeom>
        </p:spPr>
      </p:pic>
      <p:pic>
        <p:nvPicPr>
          <p:cNvPr id="38" name="Image 1" descr="C:\Users\aleksander.mastalski\repositories\_docs-export\zha-kielce-warsztat-deck\assets\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6558" y="10442448"/>
            <a:ext cx="1463040" cy="5686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502920"/>
            <a:ext cx="164463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868680"/>
            <a:ext cx="1644639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7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Pięć kroków do pierwszego wyniku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914400" y="4023360"/>
            <a:ext cx="3142976" cy="292608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4343400"/>
            <a:ext cx="2502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F07A5F"/>
                </a:solidFill>
                <a:latin typeface="ZHA Sans" pitchFamily="34" charset="0"/>
                <a:ea typeface="ZHA Sans" pitchFamily="34" charset="-122"/>
                <a:cs typeface="ZHA Sans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5394960"/>
            <a:ext cx="25028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Otwórz repozytorium w VS Code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67104" y="5486400"/>
            <a:ext cx="420624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97456" y="4023360"/>
            <a:ext cx="3142976" cy="292608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17496" y="4343400"/>
            <a:ext cx="2502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F07A5F"/>
                </a:solidFill>
                <a:latin typeface="ZHA Sans" pitchFamily="34" charset="0"/>
                <a:ea typeface="ZHA Sans" pitchFamily="34" charset="-122"/>
                <a:cs typeface="ZHA Sans" pitchFamily="34" charset="-120"/>
              </a:rPr>
              <a:t>2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5017496" y="5394960"/>
            <a:ext cx="25028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Otwórz Copilot Chat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950159" y="5486400"/>
            <a:ext cx="420624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80511" y="4023360"/>
            <a:ext cx="3142976" cy="292608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00551" y="4343400"/>
            <a:ext cx="2502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F07A5F"/>
                </a:solidFill>
                <a:latin typeface="ZHA Sans" pitchFamily="34" charset="0"/>
                <a:ea typeface="ZHA Sans" pitchFamily="34" charset="-122"/>
                <a:cs typeface="ZHA Sans" pitchFamily="34" charset="-120"/>
              </a:rPr>
              <a:t>3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800551" y="5394960"/>
            <a:ext cx="25028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Przełącz czat w tryb Agent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1733215" y="5486400"/>
            <a:ext cx="420624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2263567" y="4023360"/>
            <a:ext cx="3142976" cy="292608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583607" y="4343400"/>
            <a:ext cx="2502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F07A5F"/>
                </a:solidFill>
                <a:latin typeface="ZHA Sans" pitchFamily="34" charset="0"/>
                <a:ea typeface="ZHA Sans" pitchFamily="34" charset="-122"/>
                <a:cs typeface="ZHA Sans" pitchFamily="34" charset="-120"/>
              </a:rPr>
              <a:t>4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12583607" y="5394960"/>
            <a:ext cx="25028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Otwórz kartę 00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5516271" y="5486400"/>
            <a:ext cx="420624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6046623" y="4023360"/>
            <a:ext cx="3142976" cy="292608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366663" y="4343400"/>
            <a:ext cx="2502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F07A5F"/>
                </a:solidFill>
                <a:latin typeface="ZHA Sans" pitchFamily="34" charset="0"/>
                <a:ea typeface="ZHA Sans" pitchFamily="34" charset="-122"/>
                <a:cs typeface="ZHA Sans" pitchFamily="34" charset="-120"/>
              </a:rPr>
              <a:t>5</a:t>
            </a:r>
            <a:endParaRPr lang="en-US" sz="5400" dirty="0"/>
          </a:p>
        </p:txBody>
      </p:sp>
      <p:sp>
        <p:nvSpPr>
          <p:cNvPr id="22" name="Text 20"/>
          <p:cNvSpPr txBox="1"/>
          <p:nvPr/>
        </p:nvSpPr>
        <p:spPr>
          <a:xfrm>
            <a:off x="16366663" y="5394960"/>
            <a:ext cx="25028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Wklej prompt z karty bez zmian, po angielsku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9464040"/>
            <a:ext cx="164463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0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github.com/GitZHACODE/kielce-2026-warsztat</a:t>
            </a:r>
            <a:endParaRPr lang="en-US" sz="2200" dirty="0"/>
          </a:p>
        </p:txBody>
      </p:sp>
      <p:pic>
        <p:nvPicPr>
          <p:cNvPr id="24" name="Image 0" descr="C:\Users\aleksander.mastalski\repositories\_docs-export\zha-kielce-warsztat-deck\assets\grad-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698480"/>
            <a:ext cx="16446398" cy="36576"/>
          </a:xfrm>
          <a:prstGeom prst="rect">
            <a:avLst/>
          </a:prstGeom>
        </p:spPr>
      </p:pic>
      <p:pic>
        <p:nvPicPr>
          <p:cNvPr id="25" name="Image 1" descr="C:\Users\aleksander.mastalski\repositories\_docs-export\zha-kielce-warsztat-deck\assets\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6558" y="10442448"/>
            <a:ext cx="1463040" cy="568673"/>
          </a:xfrm>
          <a:prstGeom prst="rect">
            <a:avLst/>
          </a:prstGeom>
        </p:spPr>
      </p:pic>
      <p:pic>
        <p:nvPicPr>
          <p:cNvPr id="26" name="Image 2" descr="QR: github.com/GitZHACODE/kielce-2026-warszta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41496" y="7269480"/>
            <a:ext cx="26517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2801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KARTA 00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28800"/>
            <a:ext cx="60350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7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Wczytaj plan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914400" y="2956560"/>
            <a:ext cx="2926080" cy="54864"/>
          </a:xfrm>
          <a:prstGeom prst="rect">
            <a:avLst/>
          </a:prstGeom>
          <a:solidFill>
            <a:srgbClr val="F07A5F"/>
          </a:solidFill>
          <a:ln w="12700">
            <a:solidFill>
              <a:srgbClr val="F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3368040"/>
            <a:ext cx="6035040" cy="522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D4D4D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Agent sam znajduje teren U,M 2 w 34 stronach uchwały i zapisuje jego limity.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88696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9999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wynik  </a:t>
            </a:r>
            <a:r>
              <a:rPr lang="en-US" sz="2200" dirty="0">
                <a:solidFill>
                  <a:srgbClr val="F0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moje/plan.json</a:t>
            </a:r>
            <a:endParaRPr lang="en-US" sz="2200" dirty="0"/>
          </a:p>
        </p:txBody>
      </p:sp>
      <p:pic>
        <p:nvPicPr>
          <p:cNvPr id="7" name="Image 0" descr="C:\Users\aleksander.mastalski\repositories\_docs-export\zha-kielce-warsztat-deck\assets\shots\edytor-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209590"/>
            <a:ext cx="11325758" cy="6370739"/>
          </a:xfrm>
          <a:prstGeom prst="rect">
            <a:avLst/>
          </a:prstGeom>
        </p:spPr>
      </p:pic>
      <p:pic>
        <p:nvPicPr>
          <p:cNvPr id="8" name="Image 1" descr="C:\Users\aleksander.mastalski\repositories\_docs-export\zha-kielce-warsztat-deck\assets\grad-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0698480"/>
            <a:ext cx="6035040" cy="36576"/>
          </a:xfrm>
          <a:prstGeom prst="rect">
            <a:avLst/>
          </a:prstGeom>
        </p:spPr>
      </p:pic>
      <p:pic>
        <p:nvPicPr>
          <p:cNvPr id="9" name="Image 2" descr="C:\Users\aleksander.mastalski\repositories\_docs-export\zha-kielce-warsztat-deck\assets\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26558" y="10442448"/>
            <a:ext cx="1463040" cy="5686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2801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KARTA 01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28800"/>
            <a:ext cx="60350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7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Sprawdź plan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914400" y="2956560"/>
            <a:ext cx="2926080" cy="54864"/>
          </a:xfrm>
          <a:prstGeom prst="rect">
            <a:avLst/>
          </a:prstGeom>
          <a:solidFill>
            <a:srgbClr val="F07A5F"/>
          </a:solidFill>
          <a:ln w="12700">
            <a:solidFill>
              <a:srgbClr val="F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3368040"/>
            <a:ext cx="6035040" cy="522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D4D4D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Skrypt w kilka sekund liczy sześć wskaźników budynku i porównuje je z planem.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88696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9999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wynik  </a:t>
            </a:r>
            <a:r>
              <a:rPr lang="en-US" sz="2200" dirty="0">
                <a:solidFill>
                  <a:srgbClr val="F0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moje/sprawdz_mpzp.py</a:t>
            </a:r>
            <a:endParaRPr lang="en-US" sz="2200" dirty="0"/>
          </a:p>
        </p:txBody>
      </p:sp>
      <p:pic>
        <p:nvPicPr>
          <p:cNvPr id="7" name="Image 0" descr="C:\Users\aleksander.mastalski\repositories\_docs-export\zha-kielce-warsztat-deck\assets\shots\term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160301"/>
            <a:ext cx="11325758" cy="4469319"/>
          </a:xfrm>
          <a:prstGeom prst="rect">
            <a:avLst/>
          </a:prstGeom>
        </p:spPr>
      </p:pic>
      <p:pic>
        <p:nvPicPr>
          <p:cNvPr id="8" name="Image 1" descr="C:\Users\aleksander.mastalski\repositories\_docs-export\zha-kielce-warsztat-deck\assets\grad-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0698480"/>
            <a:ext cx="6035040" cy="36576"/>
          </a:xfrm>
          <a:prstGeom prst="rect">
            <a:avLst/>
          </a:prstGeom>
        </p:spPr>
      </p:pic>
      <p:pic>
        <p:nvPicPr>
          <p:cNvPr id="9" name="Image 2" descr="C:\Users\aleksander.mastalski\repositories\_docs-export\zha-kielce-warsztat-deck\assets\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26558" y="10442448"/>
            <a:ext cx="1463040" cy="5686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2801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KARTY 02 I 03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28800"/>
            <a:ext cx="603504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7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 dokładnie poprawić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914400" y="3810000"/>
            <a:ext cx="2926080" cy="54864"/>
          </a:xfrm>
          <a:prstGeom prst="rect">
            <a:avLst/>
          </a:prstGeom>
          <a:solidFill>
            <a:srgbClr val="F07A5F"/>
          </a:solidFill>
          <a:ln w="12700">
            <a:solidFill>
              <a:srgbClr val="F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221480"/>
            <a:ext cx="6035040" cy="437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D4D4D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Która kondygnacja psuje wynik i o ile zmienić projekt, żeby przeszedł.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88696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9999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wynik  </a:t>
            </a:r>
            <a:r>
              <a:rPr lang="en-US" sz="2200" dirty="0">
                <a:solidFill>
                  <a:srgbClr val="F0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wysokosc_schodkowa.py, ile_moge.py</a:t>
            </a:r>
            <a:endParaRPr lang="en-US" sz="2200" dirty="0"/>
          </a:p>
        </p:txBody>
      </p:sp>
      <p:pic>
        <p:nvPicPr>
          <p:cNvPr id="7" name="Image 0" descr="C:\Users\aleksander.mastalski\repositories\_docs-export\zha-kielce-warsztat-deck\assets\shots\term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848313"/>
            <a:ext cx="11325758" cy="378977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863840" y="4775247"/>
            <a:ext cx="113257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 </a:t>
            </a:r>
            <a:r>
              <a:rPr lang="en-US" sz="18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wysokość schodkowa</a:t>
            </a:r>
            <a:endParaRPr lang="en-US" sz="1800" dirty="0"/>
          </a:p>
        </p:txBody>
      </p:sp>
      <p:pic>
        <p:nvPicPr>
          <p:cNvPr id="9" name="Image 1" descr="C:\Users\aleksander.mastalski\repositories\_docs-export\zha-kielce-warsztat-deck\assets\shots\term-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5875429"/>
            <a:ext cx="11325758" cy="33367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863840" y="9349331"/>
            <a:ext cx="113257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 </a:t>
            </a:r>
            <a:r>
              <a:rPr lang="en-US" sz="18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ile mogę</a:t>
            </a:r>
            <a:endParaRPr lang="en-US" sz="1800" dirty="0"/>
          </a:p>
        </p:txBody>
      </p:sp>
      <p:pic>
        <p:nvPicPr>
          <p:cNvPr id="11" name="Image 2" descr="C:\Users\aleksander.mastalski\repositories\_docs-export\zha-kielce-warsztat-deck\assets\grad-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0698480"/>
            <a:ext cx="6035040" cy="36576"/>
          </a:xfrm>
          <a:prstGeom prst="rect">
            <a:avLst/>
          </a:prstGeom>
        </p:spPr>
      </p:pic>
      <p:pic>
        <p:nvPicPr>
          <p:cNvPr id="12" name="Image 3" descr="C:\Users\aleksander.mastalski\repositories\_docs-export\zha-kielce-warsztat-deck\assets\logo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26558" y="10442448"/>
            <a:ext cx="1463040" cy="5686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2801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KARTA 04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28800"/>
            <a:ext cx="60350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7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Kalkulator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914400" y="2956560"/>
            <a:ext cx="2926080" cy="54864"/>
          </a:xfrm>
          <a:prstGeom prst="rect">
            <a:avLst/>
          </a:prstGeom>
          <a:solidFill>
            <a:srgbClr val="F07A5F"/>
          </a:solidFill>
          <a:ln w="12700">
            <a:solidFill>
              <a:srgbClr val="F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3368040"/>
            <a:ext cx="6035040" cy="522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D4D4D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Ta sama tabela w jednym pliku HTML. Zmieniasz liczbę, wynik przelicza się od razu.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88696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9999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wynik  </a:t>
            </a:r>
            <a:r>
              <a:rPr lang="en-US" sz="2200" dirty="0">
                <a:solidFill>
                  <a:srgbClr val="F0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moje/kalkulator.html</a:t>
            </a:r>
            <a:endParaRPr lang="en-US" sz="2200" dirty="0"/>
          </a:p>
        </p:txBody>
      </p:sp>
      <p:pic>
        <p:nvPicPr>
          <p:cNvPr id="7" name="Image 0" descr="C:\Users\aleksander.mastalski\repositories\_docs-export\zha-kielce-warsztat-deck\assets\shots\kalk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55661"/>
            <a:ext cx="11325758" cy="7078599"/>
          </a:xfrm>
          <a:prstGeom prst="rect">
            <a:avLst/>
          </a:prstGeom>
        </p:spPr>
      </p:pic>
      <p:pic>
        <p:nvPicPr>
          <p:cNvPr id="8" name="Image 1" descr="C:\Users\aleksander.mastalski\repositories\_docs-export\zha-kielce-warsztat-deck\assets\grad-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0698480"/>
            <a:ext cx="6035040" cy="36576"/>
          </a:xfrm>
          <a:prstGeom prst="rect">
            <a:avLst/>
          </a:prstGeom>
        </p:spPr>
      </p:pic>
      <p:pic>
        <p:nvPicPr>
          <p:cNvPr id="9" name="Image 2" descr="C:\Users\aleksander.mastalski\repositories\_docs-export\zha-kielce-warsztat-deck\assets\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26558" y="10442448"/>
            <a:ext cx="1463040" cy="5686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502920"/>
            <a:ext cx="164463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KARTY 05–07 · RHINO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868680"/>
            <a:ext cx="1644639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7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 same reguły na modelu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5072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D4D4D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Komponenty Grasshoppera liczą wskaźniki wprost z bryły.</a:t>
            </a:r>
            <a:endParaRPr lang="en-US" sz="2800" dirty="0"/>
          </a:p>
        </p:txBody>
      </p:sp>
      <p:pic>
        <p:nvPicPr>
          <p:cNvPr id="5" name="Image 0" descr="C:\Users\aleksander.mastalski\repositories\_docs-export\zha-kielce-warsztat-deck\assets\shots\rhino-05-kontrola.png"/>
          <p:cNvPicPr>
            <a:picLocks noChangeAspect="1"/>
          </p:cNvPicPr>
          <p:nvPr/>
        </p:nvPicPr>
        <p:blipFill>
          <a:blip r:embed="rId3"/>
          <a:srcRect l="16250" r="16250"/>
          <a:stretch/>
        </p:blipFill>
        <p:spPr>
          <a:xfrm>
            <a:off x="914400" y="3522218"/>
            <a:ext cx="5847893" cy="48732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8578342"/>
            <a:ext cx="58478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 </a:t>
            </a:r>
            <a:r>
              <a:rPr lang="en-US" sz="18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kontrola na płytach kondygnacji</a:t>
            </a:r>
            <a:endParaRPr lang="en-US" sz="1800" dirty="0"/>
          </a:p>
        </p:txBody>
      </p:sp>
      <p:pic>
        <p:nvPicPr>
          <p:cNvPr id="7" name="Image 1" descr="C:\Users\aleksander.mastalski\repositories\_docs-export\zha-kielce-warsztat-deck\assets\shots\rhino-06-bryla.png"/>
          <p:cNvPicPr>
            <a:picLocks noChangeAspect="1"/>
          </p:cNvPicPr>
          <p:nvPr/>
        </p:nvPicPr>
        <p:blipFill>
          <a:blip r:embed="rId4"/>
          <a:srcRect l="16250" r="16250"/>
          <a:stretch/>
        </p:blipFill>
        <p:spPr>
          <a:xfrm>
            <a:off x="7128053" y="3522218"/>
            <a:ext cx="5847893" cy="48732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128053" y="8578342"/>
            <a:ext cx="58478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 </a:t>
            </a:r>
            <a:r>
              <a:rPr lang="en-US" sz="18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bryła sterowana suwakami</a:t>
            </a:r>
            <a:endParaRPr lang="en-US" sz="1800" dirty="0"/>
          </a:p>
        </p:txBody>
      </p:sp>
      <p:pic>
        <p:nvPicPr>
          <p:cNvPr id="9" name="Image 2" descr="C:\Users\aleksander.mastalski\repositories\_docs-export\zha-kielce-warsztat-deck\assets\shots\rhino-07-elewacja.png"/>
          <p:cNvPicPr>
            <a:picLocks noChangeAspect="1"/>
          </p:cNvPicPr>
          <p:nvPr/>
        </p:nvPicPr>
        <p:blipFill>
          <a:blip r:embed="rId5"/>
          <a:srcRect l="16250" r="16250"/>
          <a:stretch/>
        </p:blipFill>
        <p:spPr>
          <a:xfrm>
            <a:off x="13341706" y="3522218"/>
            <a:ext cx="5847893" cy="48732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341706" y="8578342"/>
            <a:ext cx="58478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 </a:t>
            </a:r>
            <a:r>
              <a:rPr lang="en-US" sz="18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elewacja zależna od słońca</a:t>
            </a:r>
            <a:endParaRPr lang="en-US" sz="1800" dirty="0"/>
          </a:p>
        </p:txBody>
      </p:sp>
      <p:pic>
        <p:nvPicPr>
          <p:cNvPr id="11" name="Image 3" descr="C:\Users\aleksander.mastalski\repositories\_docs-export\zha-kielce-warsztat-deck\assets\grad-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10698480"/>
            <a:ext cx="16446398" cy="36576"/>
          </a:xfrm>
          <a:prstGeom prst="rect">
            <a:avLst/>
          </a:prstGeom>
        </p:spPr>
      </p:pic>
      <p:pic>
        <p:nvPicPr>
          <p:cNvPr id="12" name="Image 4" descr="C:\Users\aleksander.mastalski\repositories\_docs-export\zha-kielce-warsztat-deck\assets\logo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26558" y="10442448"/>
            <a:ext cx="1463040" cy="5686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2801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KARTA 08 · PO WARSZTACIE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28800"/>
            <a:ext cx="603504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7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Pokaz w przeglądarce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914400" y="3810000"/>
            <a:ext cx="2926080" cy="54864"/>
          </a:xfrm>
          <a:prstGeom prst="rect">
            <a:avLst/>
          </a:prstGeom>
          <a:solidFill>
            <a:srgbClr val="F07A5F"/>
          </a:solidFill>
          <a:ln w="12700">
            <a:solidFill>
              <a:srgbClr val="F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221480"/>
            <a:ext cx="6035040" cy="437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D4D4D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Bryła, elewacja i kontrola planu w jednym pliku HTML, napisanym przez zespół agentów.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88696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9999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wynik  </a:t>
            </a:r>
            <a:r>
              <a:rPr lang="en-US" sz="2200" dirty="0">
                <a:solidFill>
                  <a:srgbClr val="F0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moje/08_pokaz.html</a:t>
            </a:r>
            <a:endParaRPr lang="en-US" sz="2200" dirty="0"/>
          </a:p>
        </p:txBody>
      </p:sp>
      <p:pic>
        <p:nvPicPr>
          <p:cNvPr id="7" name="Image 0" descr="C:\Users\aleksander.mastalski\repositories\_docs-export\zha-kielce-warsztat-deck\assets\shots\pokaz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209590"/>
            <a:ext cx="11325758" cy="6370739"/>
          </a:xfrm>
          <a:prstGeom prst="rect">
            <a:avLst/>
          </a:prstGeom>
        </p:spPr>
      </p:pic>
      <p:pic>
        <p:nvPicPr>
          <p:cNvPr id="8" name="Image 1" descr="C:\Users\aleksander.mastalski\repositories\_docs-export\zha-kielce-warsztat-deck\assets\grad-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0698480"/>
            <a:ext cx="6035040" cy="36576"/>
          </a:xfrm>
          <a:prstGeom prst="rect">
            <a:avLst/>
          </a:prstGeom>
        </p:spPr>
      </p:pic>
      <p:pic>
        <p:nvPicPr>
          <p:cNvPr id="9" name="Image 2" descr="C:\Users\aleksander.mastalski\repositories\_docs-export\zha-kielce-warsztat-deck\assets\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26558" y="10442448"/>
            <a:ext cx="1463040" cy="5686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502920"/>
            <a:ext cx="164463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F07A5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 WOLNYM CZASIE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868680"/>
            <a:ext cx="16446398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7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Przenieś ćwiczenie na własny plan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914400" y="4206240"/>
            <a:ext cx="3951580" cy="274320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4526280"/>
            <a:ext cx="331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F07A5F"/>
                </a:solidFill>
                <a:latin typeface="ZHA Sans" pitchFamily="34" charset="0"/>
                <a:ea typeface="ZHA Sans" pitchFamily="34" charset="-122"/>
                <a:cs typeface="ZHA Sans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5577840"/>
            <a:ext cx="33115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Podmień tekst uchwały na swój plan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975708" y="5577840"/>
            <a:ext cx="603504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88940" y="4206240"/>
            <a:ext cx="3951580" cy="274320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08980" y="4526280"/>
            <a:ext cx="331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F07A5F"/>
                </a:solidFill>
                <a:latin typeface="ZHA Sans" pitchFamily="34" charset="0"/>
                <a:ea typeface="ZHA Sans" pitchFamily="34" charset="-122"/>
                <a:cs typeface="ZHA Sans" pitchFamily="34" charset="-120"/>
              </a:rPr>
              <a:t>2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008980" y="5577840"/>
            <a:ext cx="33115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Uruchom ponownie kartę 00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750247" y="5577840"/>
            <a:ext cx="603504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463479" y="4206240"/>
            <a:ext cx="3951580" cy="274320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783519" y="4526280"/>
            <a:ext cx="331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F07A5F"/>
                </a:solidFill>
                <a:latin typeface="ZHA Sans" pitchFamily="34" charset="0"/>
                <a:ea typeface="ZHA Sans" pitchFamily="34" charset="-122"/>
                <a:cs typeface="ZHA Sans" pitchFamily="34" charset="-120"/>
              </a:rPr>
              <a:t>3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10783519" y="5577840"/>
            <a:ext cx="33115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Podmień inwestycja.json na swój projekt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4524787" y="5577840"/>
            <a:ext cx="603504" cy="0"/>
          </a:xfrm>
          <a:prstGeom prst="line">
            <a:avLst/>
          </a:prstGeom>
          <a:noFill/>
          <a:ln w="254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5238019" y="4206240"/>
            <a:ext cx="3951580" cy="2743200"/>
          </a:xfrm>
          <a:prstGeom prst="rect">
            <a:avLst/>
          </a:prstGeom>
          <a:solidFill>
            <a:srgbClr val="000000">
              <a:alpha val="0"/>
            </a:srgbClr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558059" y="4526280"/>
            <a:ext cx="331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F07A5F"/>
                </a:solidFill>
                <a:latin typeface="ZHA Sans" pitchFamily="34" charset="0"/>
                <a:ea typeface="ZHA Sans" pitchFamily="34" charset="-122"/>
                <a:cs typeface="ZHA Sans" pitchFamily="34" charset="-120"/>
              </a:rPr>
              <a:t>4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15558059" y="5577840"/>
            <a:ext cx="33115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Uruchom ponownie kartę 01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9464040"/>
            <a:ext cx="164463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promptu nie wklejamy nazw klientów, numerów działek, niepublikowanych rysunków ani wartości kontraktów.</a:t>
            </a:r>
            <a:endParaRPr lang="en-US" sz="2200" dirty="0"/>
          </a:p>
        </p:txBody>
      </p:sp>
      <p:pic>
        <p:nvPicPr>
          <p:cNvPr id="20" name="Image 0" descr="C:\Users\aleksander.mastalski\repositories\_docs-export\zha-kielce-warsztat-deck\assets\grad-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698480"/>
            <a:ext cx="16446398" cy="36576"/>
          </a:xfrm>
          <a:prstGeom prst="rect">
            <a:avLst/>
          </a:prstGeom>
        </p:spPr>
      </p:pic>
      <p:pic>
        <p:nvPicPr>
          <p:cNvPr id="21" name="Image 1" descr="C:\Users\aleksander.mastalski\repositories\_docs-export\zha-kielce-warsztat-deck\assets\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6558" y="10442448"/>
            <a:ext cx="1463040" cy="5686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leksander.mastalski\repositories\_docs-export\zha-kielce-warsztat-deck\assets\mesh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0103998" cy="11309299"/>
          </a:xfrm>
          <a:prstGeom prst="rect">
            <a:avLst/>
          </a:prstGeom>
        </p:spPr>
      </p:pic>
      <p:pic>
        <p:nvPicPr>
          <p:cNvPr id="3" name="Image 1" descr="C:\Users\aleksander.mastalski\repositories\_docs-export\zha-kielce-warsztat-deck\assets\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8959" y="5029200"/>
            <a:ext cx="2926080" cy="11373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7863840"/>
            <a:ext cx="182751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Dziękuję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914400" y="9006840"/>
            <a:ext cx="182751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github.com/GitZHACODE/kielce-2026-warsztat · Aleksander Mastalski · ZHA</a:t>
            </a:r>
            <a:endParaRPr lang="en-US" sz="2000" dirty="0"/>
          </a:p>
        </p:txBody>
      </p:sp>
      <p:pic>
        <p:nvPicPr>
          <p:cNvPr id="6" name="Image 2" descr="QR: github.com/GitZHACODE/kielce-2026-warszta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0056" y="5916168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659</Words>
  <Application>Microsoft Office PowerPoint</Application>
  <PresentationFormat>Custom</PresentationFormat>
  <Paragraphs>149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Segoe UI Semibold</vt:lpstr>
      <vt:lpstr>Arial</vt:lpstr>
      <vt:lpstr>Segoe UI</vt:lpstr>
      <vt:lpstr>Segoe UI Light</vt:lpstr>
      <vt:lpstr>Consolas</vt:lpstr>
      <vt:lpstr>ZHA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ZHA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Praktyczne wykorzystanie AI w pracowni architektonicznej</dc:title>
  <dc:subject>PptxGenJS Presentation</dc:subject>
  <dc:creator>Aleksander Mastalski</dc:creator>
  <cp:lastModifiedBy>Aleksander Mastalski</cp:lastModifiedBy>
  <cp:revision>2</cp:revision>
  <dcterms:created xsi:type="dcterms:W3CDTF">2026-09-26T12:57:35Z</dcterms:created>
  <dcterms:modified xsi:type="dcterms:W3CDTF">2026-09-26T12:57:39Z</dcterms:modified>
</cp:coreProperties>
</file>